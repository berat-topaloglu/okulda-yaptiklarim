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7" r:id="rId10"/>
    <p:sldId id="298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68" r:id="rId21"/>
    <p:sldId id="277" r:id="rId22"/>
    <p:sldId id="278" r:id="rId23"/>
    <p:sldId id="282" r:id="rId24"/>
    <p:sldId id="296" r:id="rId25"/>
    <p:sldId id="288" r:id="rId26"/>
    <p:sldId id="289" r:id="rId27"/>
    <p:sldId id="287" r:id="rId28"/>
    <p:sldId id="299" r:id="rId29"/>
    <p:sldId id="291" r:id="rId30"/>
    <p:sldId id="292" r:id="rId31"/>
    <p:sldId id="293" r:id="rId32"/>
    <p:sldId id="294" r:id="rId33"/>
    <p:sldId id="295" r:id="rId34"/>
    <p:sldId id="301" r:id="rId35"/>
  </p:sldIdLst>
  <p:sldSz cx="12192000" cy="6858000"/>
  <p:notesSz cx="6858000" cy="9144000"/>
  <p:embeddedFontLs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Nunito Sans" pitchFamily="2" charset="-94"/>
      <p:regular r:id="rId41"/>
      <p:bold r:id="rId42"/>
      <p:italic r:id="rId43"/>
      <p:boldItalic r:id="rId44"/>
    </p:embeddedFont>
    <p:embeddedFont>
      <p:font typeface="Open Sans" panose="020B0606030504020204" pitchFamily="34" charset="0"/>
      <p:regular r:id="rId45"/>
      <p:bold r:id="rId46"/>
      <p:italic r:id="rId47"/>
      <p:bold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8" roundtripDataSignature="AMtx7mgf7osy3Y2Xtqaj96QNoqMi1ncf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16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tr-T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5640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9096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5" name="Google Shape;24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2" name="Google Shape;25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2" name="Google Shape;3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590890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5" name="Google Shape;3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4" name="Google Shape;4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0" name="Google Shape;3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2b6e9d1a1a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4" name="Google Shape;424;g2b6e9d1a1af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5" name="Google Shape;425;g2b6e9d1a1af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tr-TR"/>
              <a:t>29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b6e9d1a1af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g2b6e9d1a1af_1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g2b6e9d1a1af_1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tr-TR"/>
              <a:t>30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0" name="Google Shape;44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b6e9d1a1af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g2b6e9d1a1af_1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8" name="Google Shape;448;g2b6e9d1a1af_1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tr-TR"/>
              <a:t>32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Slaydı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İçerik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ş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ölüm Üstbilgisi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İki İçerik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rşılaştırma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alnızca Başlık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İçerik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lı Resim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şlık ve Dikey Metin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key Başlık ve Metin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bagriyanik/Mobil-Programla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java/technologies/download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.android.com/studi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tmp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25"/>
              <a:buFont typeface="Calibri"/>
              <a:buNone/>
            </a:pPr>
            <a:r>
              <a:rPr lang="tr-TR"/>
              <a:t>Mobil Programlama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25"/>
              <a:buFont typeface="Calibri"/>
              <a:buNone/>
            </a:pPr>
            <a:r>
              <a:rPr lang="tr-TR"/>
              <a:t>Android Studio - Java </a:t>
            </a:r>
            <a:endParaRPr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tr-TR"/>
              <a:t>2022-2023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1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524000" y="5644275"/>
            <a:ext cx="8935800" cy="400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Kaynak Kodlar: </a:t>
            </a:r>
            <a:r>
              <a:rPr lang="tr-TR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https://github.com/tbagriyanik/Mobil-Programlama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>
            <a:spLocks noGrp="1"/>
          </p:cNvSpPr>
          <p:nvPr>
            <p:ph type="body" idx="1"/>
          </p:nvPr>
        </p:nvSpPr>
        <p:spPr>
          <a:xfrm>
            <a:off x="838200" y="1197655"/>
            <a:ext cx="10515600" cy="5523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r-TR" dirty="0" err="1"/>
              <a:t>Android</a:t>
            </a:r>
            <a:r>
              <a:rPr lang="tr-TR" dirty="0"/>
              <a:t> işletim sisteminde Java programlama diliyle mobil uygulama geliştirmek için </a:t>
            </a:r>
            <a:r>
              <a:rPr lang="tr-TR" b="1" dirty="0"/>
              <a:t>Java Software Development Kit</a:t>
            </a:r>
            <a:r>
              <a:rPr lang="tr-TR" dirty="0"/>
              <a:t> ve </a:t>
            </a:r>
            <a:r>
              <a:rPr lang="tr-TR" b="1" dirty="0" err="1"/>
              <a:t>Android</a:t>
            </a:r>
            <a:r>
              <a:rPr lang="tr-TR" b="1" dirty="0"/>
              <a:t> </a:t>
            </a:r>
            <a:r>
              <a:rPr lang="tr-TR" b="1" dirty="0" err="1"/>
              <a:t>Studio</a:t>
            </a:r>
            <a:r>
              <a:rPr lang="tr-TR" b="1" dirty="0"/>
              <a:t> + SDK </a:t>
            </a:r>
            <a:r>
              <a:rPr lang="tr-TR" dirty="0"/>
              <a:t>olmak üzere iki temel programın bilgisayara kurulması gerekir.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b="1" dirty="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tr-TR" b="1" dirty="0">
                <a:solidFill>
                  <a:srgbClr val="FF0000"/>
                </a:solidFill>
              </a:rPr>
              <a:t>Java Software Development Kit (JDK) Kurulumu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u="sng" dirty="0">
                <a:solidFill>
                  <a:schemeClr val="hlink"/>
                </a:solidFill>
                <a:hlinkClick r:id="rId3"/>
              </a:rPr>
              <a:t>https://www.oracle.com/java/technologies/downloads/</a:t>
            </a:r>
            <a:endParaRPr u="sng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u="sng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u="sng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tr-TR" b="1" dirty="0" err="1">
                <a:solidFill>
                  <a:srgbClr val="FF0000"/>
                </a:solidFill>
              </a:rPr>
              <a:t>Android</a:t>
            </a:r>
            <a:r>
              <a:rPr lang="tr-TR" b="1" dirty="0">
                <a:solidFill>
                  <a:srgbClr val="FF0000"/>
                </a:solidFill>
              </a:rPr>
              <a:t> </a:t>
            </a:r>
            <a:r>
              <a:rPr lang="tr-TR" b="1" dirty="0" err="1">
                <a:solidFill>
                  <a:srgbClr val="FF0000"/>
                </a:solidFill>
              </a:rPr>
              <a:t>Studio</a:t>
            </a:r>
            <a:r>
              <a:rPr lang="tr-TR" b="1" dirty="0">
                <a:solidFill>
                  <a:srgbClr val="FF0000"/>
                </a:solidFill>
              </a:rPr>
              <a:t> ve Software Development Kit (SDK) Kurulumu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u="sng" dirty="0">
                <a:solidFill>
                  <a:schemeClr val="hlink"/>
                </a:solidFill>
                <a:hlinkClick r:id="rId4"/>
              </a:rPr>
              <a:t>https://developer.android.com/studio</a:t>
            </a:r>
            <a:endParaRPr u="sng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u="sng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u="sng" dirty="0"/>
              <a:t>Not: </a:t>
            </a:r>
            <a:r>
              <a:rPr lang="tr-TR" dirty="0"/>
              <a:t>Kitapta sayfa 21 den itibaren bakılabilir.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u="sng" dirty="0"/>
          </a:p>
        </p:txBody>
      </p:sp>
      <p:sp>
        <p:nvSpPr>
          <p:cNvPr id="97" name="Google Shape;9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2</a:t>
            </a:fld>
            <a:endParaRPr/>
          </a:p>
        </p:txBody>
      </p:sp>
      <p:sp>
        <p:nvSpPr>
          <p:cNvPr id="98" name="Google Shape;98;p8"/>
          <p:cNvSpPr txBox="1"/>
          <p:nvPr/>
        </p:nvSpPr>
        <p:spPr>
          <a:xfrm>
            <a:off x="5329645" y="431075"/>
            <a:ext cx="261257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tr-TR" sz="2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YÜKLEME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>
            <a:spLocks noGrp="1"/>
          </p:cNvSpPr>
          <p:nvPr>
            <p:ph type="body" idx="1"/>
          </p:nvPr>
        </p:nvSpPr>
        <p:spPr>
          <a:xfrm>
            <a:off x="838200" y="378823"/>
            <a:ext cx="10515600" cy="579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tr-TR" b="1">
                <a:solidFill>
                  <a:srgbClr val="FF0000"/>
                </a:solidFill>
              </a:rPr>
              <a:t>EMÜLATÖR KURULUMU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tr-TR" b="1">
                <a:solidFill>
                  <a:srgbClr val="FF0000"/>
                </a:solidFill>
              </a:rPr>
              <a:t>Kitapta sayfa 28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tr-TR"/>
              <a:t>Virtual Device Manager (Sanal Cihaz Yöneticisi) seçeneği tıklanır.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4" name="Google Shape;10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3</a:t>
            </a:fld>
            <a:endParaRPr/>
          </a:p>
        </p:txBody>
      </p:sp>
      <p:pic>
        <p:nvPicPr>
          <p:cNvPr id="105" name="Google Shape;105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25" y="2181972"/>
            <a:ext cx="4213860" cy="3459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36264" y="2305844"/>
            <a:ext cx="4076196" cy="3335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327739" y="1878147"/>
            <a:ext cx="2524125" cy="40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>
            <a:spLocks noGrp="1"/>
          </p:cNvSpPr>
          <p:nvPr>
            <p:ph type="title"/>
          </p:nvPr>
        </p:nvSpPr>
        <p:spPr>
          <a:xfrm>
            <a:off x="838200" y="312873"/>
            <a:ext cx="10515600" cy="549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Calibri"/>
              <a:buNone/>
            </a:pPr>
            <a:r>
              <a:rPr lang="tr-TR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Yeni proje açıldığında yapılacaklar</a:t>
            </a:r>
            <a:endParaRPr/>
          </a:p>
        </p:txBody>
      </p:sp>
      <p:pic>
        <p:nvPicPr>
          <p:cNvPr id="113" name="Google Shape;113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99473" y="2370137"/>
            <a:ext cx="4809373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4</a:t>
            </a:fld>
            <a:endParaRPr/>
          </a:p>
        </p:txBody>
      </p:sp>
      <p:sp>
        <p:nvSpPr>
          <p:cNvPr id="115" name="Google Shape;115;p10"/>
          <p:cNvSpPr txBox="1"/>
          <p:nvPr/>
        </p:nvSpPr>
        <p:spPr>
          <a:xfrm>
            <a:off x="1841863" y="1750422"/>
            <a:ext cx="17091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Show System UI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4029" y="2370137"/>
            <a:ext cx="3609975" cy="434578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0"/>
          <p:cNvSpPr txBox="1"/>
          <p:nvPr/>
        </p:nvSpPr>
        <p:spPr>
          <a:xfrm>
            <a:off x="7712026" y="1770996"/>
            <a:ext cx="259398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Pixel den çözünürlük seçimi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0"/>
          <p:cNvSpPr txBox="1"/>
          <p:nvPr/>
        </p:nvSpPr>
        <p:spPr>
          <a:xfrm>
            <a:off x="1833816" y="936953"/>
            <a:ext cx="851066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tr-TR" sz="28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!!!</a:t>
            </a:r>
            <a:r>
              <a:rPr lang="tr-T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İlk önce sanal cihazın gelmesini ve yeşil play tuşunu beklemek gerekmektedir.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"/>
          <p:cNvSpPr txBox="1">
            <a:spLocks noGrp="1"/>
          </p:cNvSpPr>
          <p:nvPr>
            <p:ph type="title"/>
          </p:nvPr>
        </p:nvSpPr>
        <p:spPr>
          <a:xfrm>
            <a:off x="838200" y="220028"/>
            <a:ext cx="10515600" cy="47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Calibri"/>
              <a:buNone/>
            </a:pPr>
            <a:r>
              <a:rPr lang="tr-TR" sz="28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Örnek 1</a:t>
            </a:r>
            <a:endParaRPr sz="2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5</a:t>
            </a:fld>
            <a:endParaRPr/>
          </a:p>
        </p:txBody>
      </p:sp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954" y="1396229"/>
            <a:ext cx="2886075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/>
          <p:nvPr/>
        </p:nvSpPr>
        <p:spPr>
          <a:xfrm>
            <a:off x="166172" y="690926"/>
            <a:ext cx="592982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tr-T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Clear All Constraints 🡪 bağlantılar kaldırılır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tr-T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Infer Constraints       🡪 mevcut duruma göre bağlantı yapılır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6124" y="3025276"/>
            <a:ext cx="6905625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 txBox="1"/>
          <p:nvPr/>
        </p:nvSpPr>
        <p:spPr>
          <a:xfrm>
            <a:off x="5309055" y="2649635"/>
            <a:ext cx="660309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Button a tıklandığında çalışacak metod alanı açılaması için </a:t>
            </a:r>
            <a:r>
              <a:rPr lang="tr-TR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onClick</a:t>
            </a: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alanı çıkarma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6</a:t>
            </a:fld>
            <a:endParaRPr/>
          </a:p>
        </p:txBody>
      </p:sp>
      <p:pic>
        <p:nvPicPr>
          <p:cNvPr id="134" name="Google Shape;13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9622" y="966652"/>
            <a:ext cx="9645566" cy="4947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7</a:t>
            </a:fld>
            <a:endParaRPr/>
          </a:p>
        </p:txBody>
      </p:sp>
      <p:sp>
        <p:nvSpPr>
          <p:cNvPr id="140" name="Google Shape;140;p13"/>
          <p:cNvSpPr txBox="1"/>
          <p:nvPr/>
        </p:nvSpPr>
        <p:spPr>
          <a:xfrm>
            <a:off x="838200" y="220028"/>
            <a:ext cx="10515600" cy="47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tr-TR" sz="2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Örnek 2</a:t>
            </a:r>
            <a:endParaRPr sz="2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760" y="2042432"/>
            <a:ext cx="2571750" cy="421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25413" y="1717675"/>
            <a:ext cx="7677150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3"/>
          <p:cNvSpPr txBox="1"/>
          <p:nvPr/>
        </p:nvSpPr>
        <p:spPr>
          <a:xfrm>
            <a:off x="720635" y="983218"/>
            <a:ext cx="58144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tr-T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sayının toplamı örneği ..Değişken dönüşümü önemli!!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8</a:t>
            </a:fld>
            <a:endParaRPr/>
          </a:p>
        </p:txBody>
      </p:sp>
      <p:pic>
        <p:nvPicPr>
          <p:cNvPr id="149" name="Google Shape;14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418" y="1807573"/>
            <a:ext cx="25431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/>
          <p:nvPr/>
        </p:nvSpPr>
        <p:spPr>
          <a:xfrm>
            <a:off x="838200" y="220028"/>
            <a:ext cx="10515600" cy="47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tr-TR" sz="2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Örnek 3</a:t>
            </a:r>
            <a:endParaRPr sz="2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09348" y="220028"/>
            <a:ext cx="3924709" cy="650131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4"/>
          <p:cNvSpPr txBox="1"/>
          <p:nvPr/>
        </p:nvSpPr>
        <p:spPr>
          <a:xfrm>
            <a:off x="838200" y="695251"/>
            <a:ext cx="30187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tr-T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sayının dört işlem örneği!!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9</a:t>
            </a:fld>
            <a:endParaRPr/>
          </a:p>
        </p:txBody>
      </p:sp>
      <p:pic>
        <p:nvPicPr>
          <p:cNvPr id="158" name="Google Shape;15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678" y="2355850"/>
            <a:ext cx="25336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5"/>
          <p:cNvSpPr txBox="1"/>
          <p:nvPr/>
        </p:nvSpPr>
        <p:spPr>
          <a:xfrm>
            <a:off x="270238" y="285342"/>
            <a:ext cx="10515600" cy="47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tr-TR" sz="2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Örnek 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39247" y="128402"/>
            <a:ext cx="4469130" cy="6593073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 txBox="1"/>
          <p:nvPr/>
        </p:nvSpPr>
        <p:spPr>
          <a:xfrm>
            <a:off x="838200" y="695251"/>
            <a:ext cx="462177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tr-TR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Double değişken türü ile if ve switch örneği 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9927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955" y="2865769"/>
            <a:ext cx="5150440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10</a:t>
            </a:fld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270238" y="285342"/>
            <a:ext cx="10515600" cy="47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tr-TR" sz="2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Örnek 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68918" y="1955841"/>
            <a:ext cx="52084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Scroll View nesnesi kaydırma çubuğu tarzda görünüm oluşturur.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16"/>
          <p:cNvCxnSpPr/>
          <p:nvPr/>
        </p:nvCxnSpPr>
        <p:spPr>
          <a:xfrm rot="10800000" flipH="1">
            <a:off x="1058092" y="5003075"/>
            <a:ext cx="3017520" cy="522514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71" name="Google Shape;17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64777" y="1805602"/>
            <a:ext cx="6522720" cy="4685709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6"/>
          <p:cNvSpPr txBox="1"/>
          <p:nvPr/>
        </p:nvSpPr>
        <p:spPr>
          <a:xfrm>
            <a:off x="2956038" y="648771"/>
            <a:ext cx="542648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Basit bir for örneği başlangıç,bitiş ve artış miktarı dışardan alınıyor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0312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11</a:t>
            </a:fld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270238" y="285342"/>
            <a:ext cx="10515600" cy="47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tr-TR" sz="2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Örnek 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671" y="1307263"/>
            <a:ext cx="6862084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587829" y="756240"/>
            <a:ext cx="436390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com.example kısmından sağ tıklayıp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Yeni sayfa(activity) eklenir.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5954" y="2265883"/>
            <a:ext cx="4522062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8288957" y="1362870"/>
            <a:ext cx="370806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Hangi sayfadan başlatmak istiyorsak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AndroidManifest.xml dosyasından seçili yeri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değiştiriyoruz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3108960" y="5547176"/>
            <a:ext cx="240322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Diğer sayfayı açma komudu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152671" y="756240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tr-TR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7807505" y="1419356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tr-TR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2715851" y="5485621"/>
            <a:ext cx="31290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tr-TR" sz="18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7926CE70-8F6C-46E6-A2D9-749777373E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9781" y="5940316"/>
            <a:ext cx="6030167" cy="7811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12</a:t>
            </a:fld>
            <a:endParaRPr/>
          </a:p>
        </p:txBody>
      </p:sp>
      <p:pic>
        <p:nvPicPr>
          <p:cNvPr id="193" name="Google Shape;19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8337" y="1228725"/>
            <a:ext cx="8315325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0"/>
          <p:cNvSpPr txBox="1"/>
          <p:nvPr/>
        </p:nvSpPr>
        <p:spPr>
          <a:xfrm>
            <a:off x="3978549" y="112500"/>
            <a:ext cx="441172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Sayfalar arası veri taşıma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1134" y="653732"/>
            <a:ext cx="58674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/>
          <p:nvPr/>
        </p:nvSpPr>
        <p:spPr>
          <a:xfrm>
            <a:off x="6637791" y="1133904"/>
            <a:ext cx="1001485" cy="2116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7751643" y="997022"/>
            <a:ext cx="37218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tr-T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putExtra ile intent içine bilgi ekleniyor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68549" y="2427035"/>
            <a:ext cx="219560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Giden Sayfa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1373" y="4339505"/>
            <a:ext cx="8258175" cy="1133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20"/>
          <p:cNvCxnSpPr/>
          <p:nvPr/>
        </p:nvCxnSpPr>
        <p:spPr>
          <a:xfrm>
            <a:off x="168549" y="4151086"/>
            <a:ext cx="11892822" cy="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6" name="Google Shape;216;p20"/>
          <p:cNvSpPr txBox="1"/>
          <p:nvPr/>
        </p:nvSpPr>
        <p:spPr>
          <a:xfrm>
            <a:off x="181373" y="5796542"/>
            <a:ext cx="218277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Gelen Sayfa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13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8" name="Google Shape;218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26062" y="1945823"/>
            <a:ext cx="81343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66985" y="5689600"/>
            <a:ext cx="56959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278066" y="4419167"/>
            <a:ext cx="2505075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14</a:t>
            </a:fld>
            <a:endParaRPr/>
          </a:p>
        </p:txBody>
      </p:sp>
      <p:pic>
        <p:nvPicPr>
          <p:cNvPr id="226" name="Google Shape;22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3475" y="1485900"/>
            <a:ext cx="992505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270238" y="285342"/>
            <a:ext cx="10515600" cy="47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tr-TR" sz="2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Örnek 8 Şifre Göster/Gizle</a:t>
            </a:r>
            <a:endParaRPr sz="2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1133475" y="967181"/>
            <a:ext cx="56108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nesnesi de Button gibi onClick olayı ile tıklandığında çalışıyor.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15</a:t>
            </a:fld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727441" y="50209"/>
            <a:ext cx="10515600" cy="47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tr-TR" sz="2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Örnek 9 Doğrulama Kodlu Giriş</a:t>
            </a:r>
            <a:endParaRPr sz="2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642" y="647291"/>
            <a:ext cx="32385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366237" y="339514"/>
            <a:ext cx="36166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Ekranda nesneyi gösterme gizleme komutu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84127" y="532991"/>
            <a:ext cx="3371850" cy="5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8311014" y="272474"/>
            <a:ext cx="251222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Rastgele sayı üretme komutu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6237" y="1520190"/>
            <a:ext cx="25431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88289" y="1379460"/>
            <a:ext cx="2533650" cy="401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/>
          <p:nvPr/>
        </p:nvSpPr>
        <p:spPr>
          <a:xfrm>
            <a:off x="3744142" y="3520440"/>
            <a:ext cx="1900646" cy="2905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3032610" y="2742121"/>
            <a:ext cx="345799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Kullanıcı adı ve şifre 3 kere hatalı girince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doğrulama kodu alanı gözüküyor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16</a:t>
            </a:fld>
            <a:endParaRPr/>
          </a:p>
        </p:txBody>
      </p:sp>
      <p:pic>
        <p:nvPicPr>
          <p:cNvPr id="248" name="Google Shape;24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086" y="1040539"/>
            <a:ext cx="5703661" cy="4223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31747" y="711653"/>
            <a:ext cx="6460253" cy="5075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1966" y="1769792"/>
            <a:ext cx="3543300" cy="19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896498" y="1333504"/>
            <a:ext cx="42588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tr-T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build.gradle (Module) dosyasını düzenle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1966" y="3800478"/>
            <a:ext cx="9267825" cy="291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/>
          <p:nvPr/>
        </p:nvSpPr>
        <p:spPr>
          <a:xfrm>
            <a:off x="9679576" y="2905988"/>
            <a:ext cx="431074" cy="770709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65113" y="991507"/>
            <a:ext cx="28289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5415464" y="214099"/>
            <a:ext cx="147027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Binding</a:t>
            </a:r>
            <a:endParaRPr sz="3200" b="1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17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907787" y="776296"/>
            <a:ext cx="723314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xml sayfasındaki nesneleri findViewById yapmadan java dosyasında kullanmayı sağlar.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Android parantezleri arasına eklenecek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97330" y="3846198"/>
            <a:ext cx="6949440" cy="2868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 txBox="1"/>
          <p:nvPr/>
        </p:nvSpPr>
        <p:spPr>
          <a:xfrm>
            <a:off x="940526" y="744583"/>
            <a:ext cx="47836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tr-T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dosyasının üst tarafı bu şekilde değiştirilecek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18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9" name="Google Shape;269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5558" y="1449977"/>
            <a:ext cx="21907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9704" y="1830977"/>
            <a:ext cx="7172325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19</a:t>
            </a:fld>
            <a:endParaRPr/>
          </a:p>
        </p:txBody>
      </p:sp>
      <p:pic>
        <p:nvPicPr>
          <p:cNvPr id="276" name="Google Shape;27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719" y="563380"/>
            <a:ext cx="1544952" cy="2439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08757" y="563380"/>
            <a:ext cx="1556568" cy="2456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99411" y="574996"/>
            <a:ext cx="1556570" cy="2445208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6"/>
          <p:cNvSpPr/>
          <p:nvPr/>
        </p:nvSpPr>
        <p:spPr>
          <a:xfrm>
            <a:off x="2268103" y="1378345"/>
            <a:ext cx="828276" cy="398270"/>
          </a:xfrm>
          <a:prstGeom prst="ellipse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4114547" y="1384153"/>
            <a:ext cx="828276" cy="398270"/>
          </a:xfrm>
          <a:prstGeom prst="ellipse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727441" y="50209"/>
            <a:ext cx="10515600" cy="47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tr-TR" sz="2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Örnek 10 Binding ve visible/hint hesaplama örneği</a:t>
            </a:r>
            <a:endParaRPr sz="2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40303" y="3414540"/>
            <a:ext cx="3185388" cy="174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50763" y="3414540"/>
            <a:ext cx="1805218" cy="2832907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 txBox="1"/>
          <p:nvPr/>
        </p:nvSpPr>
        <p:spPr>
          <a:xfrm>
            <a:off x="488526" y="5634601"/>
            <a:ext cx="297228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Sebze yada meyveyi yazıp seçince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fiyatı otomatik geliyor.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285;p26">
            <a:extLst>
              <a:ext uri="{FF2B5EF4-FFF2-40B4-BE49-F238E27FC236}">
                <a16:creationId xmlns:a16="http://schemas.microsoft.com/office/drawing/2014/main" id="{9653CEB4-E96E-458B-9D41-079374ABDB6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26515" y="455387"/>
            <a:ext cx="4716101" cy="6312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20</a:t>
            </a:fld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270238" y="285342"/>
            <a:ext cx="10515600" cy="470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Arial"/>
              <a:buNone/>
            </a:pPr>
            <a:r>
              <a:rPr lang="tr-TR" sz="28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Örnek 7(Ödev)</a:t>
            </a:r>
            <a:endParaRPr sz="2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4186" y="697889"/>
            <a:ext cx="1674903" cy="2649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52371" y="697889"/>
            <a:ext cx="1943372" cy="305387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/>
          <p:nvPr/>
        </p:nvSpPr>
        <p:spPr>
          <a:xfrm>
            <a:off x="2679111" y="1783328"/>
            <a:ext cx="1900646" cy="29052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21</a:t>
            </a:fld>
            <a:endParaRPr/>
          </a:p>
        </p:txBody>
      </p:sp>
      <p:pic>
        <p:nvPicPr>
          <p:cNvPr id="304" name="Google Shape;30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552" y="252139"/>
            <a:ext cx="253365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8961" y="252139"/>
            <a:ext cx="8069348" cy="6279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"/>
          <p:cNvSpPr txBox="1"/>
          <p:nvPr/>
        </p:nvSpPr>
        <p:spPr>
          <a:xfrm>
            <a:off x="509451" y="946776"/>
            <a:ext cx="1040175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tr-TR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Spinner</a:t>
            </a:r>
            <a:r>
              <a:rPr lang="tr-T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öğeleri kullanıcı seçimi için mevcut olan bir açılır menü biçiminde tutan bir görünüm türüdür.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tr-T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C# daki comboBox gibi düşünebiliriz. Spinner da göstermek için veriler </a:t>
            </a:r>
            <a:r>
              <a:rPr lang="tr-TR" sz="1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dizi olarak </a:t>
            </a:r>
            <a:r>
              <a:rPr lang="tr-T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hazır olmalıdır.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tr-T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 kaynağından veri almak, bunun bir görünümünü oluşturmak ve ardından </a:t>
            </a:r>
            <a:r>
              <a:rPr lang="tr-TR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Spinner</a:t>
            </a:r>
            <a:r>
              <a:rPr lang="tr-T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‘a geçirmek için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tr-T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bir </a:t>
            </a:r>
            <a:r>
              <a:rPr lang="tr-TR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ArrayAdapter</a:t>
            </a:r>
            <a:r>
              <a:rPr lang="tr-TR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olacaktır.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4501064" y="254820"/>
            <a:ext cx="318266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Spinner Kullanımı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509451" y="2254286"/>
            <a:ext cx="11064240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tr-TR" sz="1600" b="0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Bir ArrayAdapter’ı başlatmak için kullanılan 3 parametre vardır (örneğimizde bir ArrayAdapter kullandık):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600"/>
              <a:buFont typeface="Arial"/>
              <a:buChar char="•"/>
            </a:pPr>
            <a:r>
              <a:rPr lang="tr-TR" sz="1600" b="1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Context c: </a:t>
            </a:r>
            <a:r>
              <a:rPr lang="tr-TR" sz="1600" b="0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Aktif Activity.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600"/>
              <a:buFont typeface="Arial"/>
              <a:buChar char="•"/>
            </a:pPr>
            <a:r>
              <a:rPr lang="tr-TR" sz="1600" b="1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Layout:</a:t>
            </a:r>
            <a:r>
              <a:rPr lang="tr-TR" sz="1600" b="0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 Spinnerda tek bir öğenin nasıl görüneceğini tanımlayan bir düzen dosyasıdır. Android SDK varsayılan olarak </a:t>
            </a:r>
            <a:r>
              <a:rPr lang="tr-TR" sz="1600" b="1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simple_spinner_item</a:t>
            </a:r>
            <a:r>
              <a:rPr lang="tr-TR" sz="1600" b="0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 ve </a:t>
            </a:r>
            <a:r>
              <a:rPr lang="tr-TR" sz="1600" b="1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simple_spinner_dropdown_item</a:t>
            </a:r>
            <a:r>
              <a:rPr lang="tr-TR" sz="1600" b="0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 gibi düzenler sağlar ve herhangi bir özel tasarım gereksiniminiz yoksa yalnızca bunları kullanmanızı öneririz.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600"/>
              <a:buFont typeface="Arial"/>
              <a:buChar char="•"/>
            </a:pPr>
            <a:r>
              <a:rPr lang="tr-TR" sz="1600" b="1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Veri kaynağı:</a:t>
            </a:r>
            <a:r>
              <a:rPr lang="tr-TR" sz="1600" b="0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 Verilerin bir görünüme dönüştürüleceği veri kaynağıdır yani Dizimiz</a:t>
            </a:r>
            <a:endParaRPr sz="1600" b="0" i="0" u="none" strike="noStrike" cap="none">
              <a:solidFill>
                <a:srgbClr val="5E5E5E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509451" y="4041463"/>
            <a:ext cx="11064240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tr-TR" sz="1600" b="1" i="0" u="none" strike="noStrike" cap="none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Android Spinner Olay Kullanımı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tr-TR" sz="1600" b="1" i="0" u="none" strike="noStrike" cap="none">
                <a:solidFill>
                  <a:srgbClr val="111111"/>
                </a:solidFill>
                <a:latin typeface="Open Sans"/>
                <a:ea typeface="Open Sans"/>
                <a:cs typeface="Open Sans"/>
                <a:sym typeface="Open Sans"/>
              </a:rPr>
              <a:t>onItemSelected()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tr-TR" sz="1600" b="0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This method has 4 parameters: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600"/>
              <a:buFont typeface="Arial"/>
              <a:buChar char="•"/>
            </a:pPr>
            <a:r>
              <a:rPr lang="tr-TR" sz="1600" b="1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AdapterView av</a:t>
            </a:r>
            <a:r>
              <a:rPr lang="tr-TR" sz="1600" b="0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: Bu, kullandığınız Spinner görünümüdür.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600"/>
              <a:buFont typeface="Arial"/>
              <a:buChar char="•"/>
            </a:pPr>
            <a:r>
              <a:rPr lang="tr-TR" sz="1600" b="1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View v</a:t>
            </a:r>
            <a:r>
              <a:rPr lang="tr-TR" sz="1600" b="0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: Tıklanan döndürücünün içindeki TextView’ı tanımlar.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600"/>
              <a:buFont typeface="Arial"/>
              <a:buChar char="•"/>
            </a:pPr>
            <a:r>
              <a:rPr lang="tr-TR" sz="1600" b="1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int position</a:t>
            </a:r>
            <a:r>
              <a:rPr lang="tr-TR" sz="1600" b="0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: Spinnerde tıklanan öğenin konumunu söyler. Dizin veya konum 0’dan başlar.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600"/>
              <a:buFont typeface="Arial"/>
              <a:buChar char="•"/>
            </a:pPr>
            <a:r>
              <a:rPr lang="tr-TR" sz="1600" b="1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long id</a:t>
            </a:r>
            <a:r>
              <a:rPr lang="tr-TR" sz="1600" b="0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: Spinner’da tıklanan öğenin satır kimliğini verir. Bu parametre esas olarak Android’deki </a:t>
            </a:r>
            <a:br>
              <a:rPr lang="tr-TR" sz="1600" b="0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tr-TR" sz="1600" b="0" i="0" u="none" strike="noStrike" cap="none">
                <a:solidFill>
                  <a:srgbClr val="5E5E5E"/>
                </a:solidFill>
                <a:latin typeface="Nunito Sans"/>
                <a:ea typeface="Nunito Sans"/>
                <a:cs typeface="Nunito Sans"/>
                <a:sym typeface="Nunito Sans"/>
              </a:rPr>
              <a:t>veritabanlarıyla uğraşırken kullanılır.</a:t>
            </a:r>
            <a:endParaRPr sz="1600" b="0" i="0" u="none" strike="noStrike" cap="none">
              <a:solidFill>
                <a:srgbClr val="5E5E5E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14" name="Google Shape;31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63347" y="3357154"/>
            <a:ext cx="2105842" cy="34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22</a:t>
            </a:fld>
            <a:endParaRPr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23</a:t>
            </a:fld>
            <a:endParaRPr/>
          </a:p>
        </p:txBody>
      </p:sp>
      <p:sp>
        <p:nvSpPr>
          <p:cNvPr id="345" name="Google Shape;345;p3"/>
          <p:cNvSpPr txBox="1"/>
          <p:nvPr/>
        </p:nvSpPr>
        <p:spPr>
          <a:xfrm>
            <a:off x="0" y="232132"/>
            <a:ext cx="155906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Örnek 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943" y="1721224"/>
            <a:ext cx="2149990" cy="33900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22178" y="1042147"/>
            <a:ext cx="9156606" cy="47610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4869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>
                <a:latin typeface="Arial"/>
                <a:ea typeface="Arial"/>
                <a:cs typeface="Arial"/>
                <a:sym typeface="Arial"/>
              </a:rPr>
              <a:t>24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2" name="Google Shape;47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855" y="1679863"/>
            <a:ext cx="1990725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99001" y="1463076"/>
            <a:ext cx="5440141" cy="5258399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6"/>
          <p:cNvSpPr/>
          <p:nvPr/>
        </p:nvSpPr>
        <p:spPr>
          <a:xfrm>
            <a:off x="294688" y="668701"/>
            <a:ext cx="11897311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600" b="0" i="0" u="none" strike="noStrike" cap="none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	Şimdi neler yaptığımızı açıklamak istiyorum.</a:t>
            </a:r>
            <a:endParaRPr/>
          </a:p>
          <a:p>
            <a:pPr marL="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tr-TR" sz="1600" b="0" i="0" u="none" strike="noStrike" cap="none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Runnable 🡪çalıştırıldığında ne yapmasını istediğimiz değişkenleri belirteceğimiz fonksiyonumuz.</a:t>
            </a:r>
            <a:endParaRPr/>
          </a:p>
          <a:p>
            <a:pPr marL="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tr-TR" sz="1600" b="0" i="0" u="none" strike="noStrike" cap="none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Handler    🡪çalışmasını istediğimiz fonksiyonumuz ne kadar süreyle çalışmasını istiyorsak bu yapıyla ifade ediyoruz.</a:t>
            </a:r>
            <a:endParaRPr sz="1600" b="0" i="0" u="none" strike="noStrike" cap="none">
              <a:solidFill>
                <a:srgbClr val="24242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5" name="Google Shape;475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95996" y="4956463"/>
            <a:ext cx="5496003" cy="146986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46"/>
          <p:cNvSpPr txBox="1"/>
          <p:nvPr/>
        </p:nvSpPr>
        <p:spPr>
          <a:xfrm>
            <a:off x="294688" y="132141"/>
            <a:ext cx="8789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Android Timer(Handler,Runnable)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25</a:t>
            </a:fld>
            <a:endParaRPr/>
          </a:p>
        </p:txBody>
      </p:sp>
      <p:pic>
        <p:nvPicPr>
          <p:cNvPr id="398" name="Google Shape;39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7361" y="829372"/>
            <a:ext cx="404812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5"/>
          <p:cNvSpPr txBox="1"/>
          <p:nvPr/>
        </p:nvSpPr>
        <p:spPr>
          <a:xfrm>
            <a:off x="363963" y="122661"/>
            <a:ext cx="387350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AlertDialog Kullanımı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63047" y="1819740"/>
            <a:ext cx="6867525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"/>
          <p:cNvSpPr txBox="1"/>
          <p:nvPr/>
        </p:nvSpPr>
        <p:spPr>
          <a:xfrm>
            <a:off x="363963" y="6356350"/>
            <a:ext cx="575670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https://www.yazilimkodlama.com/android/android-alertdialog-kullanimi/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26</a:t>
            </a:fld>
            <a:endParaRPr/>
          </a:p>
        </p:txBody>
      </p:sp>
      <p:sp>
        <p:nvSpPr>
          <p:cNvPr id="407" name="Google Shape;407;p6"/>
          <p:cNvSpPr txBox="1"/>
          <p:nvPr/>
        </p:nvSpPr>
        <p:spPr>
          <a:xfrm>
            <a:off x="363963" y="122661"/>
            <a:ext cx="387350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ListView Kullanımı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8" name="Google Shape;40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0763" y="5270231"/>
            <a:ext cx="748665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994" y="1162123"/>
            <a:ext cx="2257425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25625" y="648168"/>
            <a:ext cx="9839325" cy="40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264" y="4347944"/>
            <a:ext cx="2625825" cy="24657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2" name="Google Shape;412;p6"/>
          <p:cNvCxnSpPr/>
          <p:nvPr/>
        </p:nvCxnSpPr>
        <p:spPr>
          <a:xfrm>
            <a:off x="3146853" y="3429000"/>
            <a:ext cx="1914959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27</a:t>
            </a:fld>
            <a:endParaRPr/>
          </a:p>
        </p:txBody>
      </p:sp>
      <p:pic>
        <p:nvPicPr>
          <p:cNvPr id="383" name="Google Shape;38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3017" y="180017"/>
            <a:ext cx="1640898" cy="2590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775" y="3433907"/>
            <a:ext cx="6611060" cy="3424093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"/>
          <p:cNvSpPr txBox="1"/>
          <p:nvPr/>
        </p:nvSpPr>
        <p:spPr>
          <a:xfrm>
            <a:off x="104775" y="24864"/>
            <a:ext cx="360824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Rating Bar Kullanımı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" name="Google Shape;386;p4"/>
          <p:cNvCxnSpPr/>
          <p:nvPr/>
        </p:nvCxnSpPr>
        <p:spPr>
          <a:xfrm>
            <a:off x="1908896" y="5173661"/>
            <a:ext cx="1914959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87" name="Google Shape;387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15125" y="180017"/>
            <a:ext cx="5476875" cy="3629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8" name="Google Shape;388;p4"/>
          <p:cNvCxnSpPr/>
          <p:nvPr/>
        </p:nvCxnSpPr>
        <p:spPr>
          <a:xfrm>
            <a:off x="7801840" y="2167225"/>
            <a:ext cx="1651722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89" name="Google Shape;389;p4"/>
          <p:cNvSpPr txBox="1"/>
          <p:nvPr/>
        </p:nvSpPr>
        <p:spPr>
          <a:xfrm>
            <a:off x="928255" y="1994529"/>
            <a:ext cx="9909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binding ile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p4"/>
          <p:cNvCxnSpPr/>
          <p:nvPr/>
        </p:nvCxnSpPr>
        <p:spPr>
          <a:xfrm>
            <a:off x="1434322" y="2302306"/>
            <a:ext cx="0" cy="995507"/>
          </a:xfrm>
          <a:prstGeom prst="straightConnector1">
            <a:avLst/>
          </a:prstGeom>
          <a:noFill/>
          <a:ln w="38100" cap="flat" cmpd="sng">
            <a:solidFill>
              <a:srgbClr val="5597D3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91" name="Google Shape;391;p4"/>
          <p:cNvCxnSpPr/>
          <p:nvPr/>
        </p:nvCxnSpPr>
        <p:spPr>
          <a:xfrm rot="10800000">
            <a:off x="9677777" y="4178154"/>
            <a:ext cx="0" cy="995507"/>
          </a:xfrm>
          <a:prstGeom prst="straightConnector1">
            <a:avLst/>
          </a:prstGeom>
          <a:noFill/>
          <a:ln w="38100" cap="flat" cmpd="sng">
            <a:solidFill>
              <a:srgbClr val="5597D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92" name="Google Shape;392;p4"/>
          <p:cNvSpPr txBox="1"/>
          <p:nvPr/>
        </p:nvSpPr>
        <p:spPr>
          <a:xfrm>
            <a:off x="8392579" y="5316660"/>
            <a:ext cx="281359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binding olmadan findViewById ile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8251DE-C709-477D-9400-6142D72C96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 smtClean="0"/>
              <a:t>28</a:t>
            </a:fld>
            <a:endParaRPr lang="tr-T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D13C4-EBEC-4F0B-8B45-5428EF82B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277" y="970961"/>
            <a:ext cx="2523561" cy="5454147"/>
          </a:xfrm>
          <a:prstGeom prst="rect">
            <a:avLst/>
          </a:prstGeom>
        </p:spPr>
      </p:pic>
      <p:sp>
        <p:nvSpPr>
          <p:cNvPr id="5" name="Google Shape;345;p3">
            <a:extLst>
              <a:ext uri="{FF2B5EF4-FFF2-40B4-BE49-F238E27FC236}">
                <a16:creationId xmlns:a16="http://schemas.microsoft.com/office/drawing/2014/main" id="{F33451AA-68BA-4344-BF35-AB6F5E9FC3EB}"/>
              </a:ext>
            </a:extLst>
          </p:cNvPr>
          <p:cNvSpPr txBox="1"/>
          <p:nvPr/>
        </p:nvSpPr>
        <p:spPr>
          <a:xfrm>
            <a:off x="8088197" y="56595"/>
            <a:ext cx="155906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Örnek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0DE6CE-BABF-493A-9307-B1703CBCB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" y="9460"/>
            <a:ext cx="8112702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A05CA3C-992A-41A4-ACE8-15D3FCD999CF}"/>
              </a:ext>
            </a:extLst>
          </p:cNvPr>
          <p:cNvSpPr txBox="1"/>
          <p:nvPr/>
        </p:nvSpPr>
        <p:spPr>
          <a:xfrm>
            <a:off x="9332537" y="136525"/>
            <a:ext cx="285003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ListView den seçilen aracın puanı </a:t>
            </a:r>
            <a:br>
              <a:rPr lang="tr-TR" dirty="0"/>
            </a:br>
            <a:r>
              <a:rPr lang="tr-TR" dirty="0"/>
              <a:t>Yes e basılınca RatingBara </a:t>
            </a:r>
            <a:br>
              <a:rPr lang="tr-TR" dirty="0"/>
            </a:br>
            <a:r>
              <a:rPr lang="tr-TR" dirty="0"/>
              <a:t>yükleniyor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9932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b6e9d1a1af_1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tr-TR"/>
              <a:t>29</a:t>
            </a:fld>
            <a:endParaRPr/>
          </a:p>
        </p:txBody>
      </p:sp>
      <p:sp>
        <p:nvSpPr>
          <p:cNvPr id="428" name="Google Shape;428;g2b6e9d1a1af_1_0"/>
          <p:cNvSpPr txBox="1"/>
          <p:nvPr/>
        </p:nvSpPr>
        <p:spPr>
          <a:xfrm>
            <a:off x="363962" y="122661"/>
            <a:ext cx="8789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Filtreleme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g2b6e9d1a1af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425" y="707650"/>
            <a:ext cx="11121776" cy="60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b6e9d1a1af_1_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tr-TR"/>
              <a:t>30</a:t>
            </a:fld>
            <a:endParaRPr/>
          </a:p>
        </p:txBody>
      </p:sp>
      <p:sp>
        <p:nvSpPr>
          <p:cNvPr id="436" name="Google Shape;436;g2b6e9d1a1af_1_7"/>
          <p:cNvSpPr txBox="1"/>
          <p:nvPr/>
        </p:nvSpPr>
        <p:spPr>
          <a:xfrm>
            <a:off x="363962" y="122661"/>
            <a:ext cx="8789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Filtreleme  Devam (1.yol)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7" name="Google Shape;437;g2b6e9d1a1af_1_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68775"/>
            <a:ext cx="11982200" cy="572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/>
              <a:t>31</a:t>
            </a:fld>
            <a:endParaRPr/>
          </a:p>
        </p:txBody>
      </p:sp>
      <p:pic>
        <p:nvPicPr>
          <p:cNvPr id="443" name="Google Shape;443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7446" y="1213020"/>
            <a:ext cx="8526561" cy="4708313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4"/>
          <p:cNvSpPr txBox="1"/>
          <p:nvPr/>
        </p:nvSpPr>
        <p:spPr>
          <a:xfrm>
            <a:off x="363962" y="122661"/>
            <a:ext cx="8789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Filtreleme  Devam (2.yol)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b6e9d1a1af_1_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tr-TR"/>
              <a:t>32</a:t>
            </a:fld>
            <a:endParaRPr/>
          </a:p>
        </p:txBody>
      </p:sp>
      <p:sp>
        <p:nvSpPr>
          <p:cNvPr id="451" name="Google Shape;451;g2b6e9d1a1af_1_14"/>
          <p:cNvSpPr txBox="1"/>
          <p:nvPr/>
        </p:nvSpPr>
        <p:spPr>
          <a:xfrm>
            <a:off x="363962" y="122661"/>
            <a:ext cx="8789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Filtreleme  Çalışma Ekranı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" name="Google Shape;452;g2b6e9d1a1af_1_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51075" y="707650"/>
            <a:ext cx="4602725" cy="5997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2b6e9d1a1af_1_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325" y="860050"/>
            <a:ext cx="4602725" cy="599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tr-TR">
                <a:latin typeface="Arial"/>
                <a:ea typeface="Arial"/>
                <a:cs typeface="Arial"/>
                <a:sym typeface="Arial"/>
              </a:rPr>
              <a:t>33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45"/>
          <p:cNvSpPr/>
          <p:nvPr/>
        </p:nvSpPr>
        <p:spPr>
          <a:xfrm>
            <a:off x="4184068" y="3250214"/>
            <a:ext cx="8040904" cy="862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2142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 dirty="0">
                <a:solidFill>
                  <a:srgbClr val="373A3C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tr-TR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android:showAsAction="always" -&gt;her durumda action bar da göstermek için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android:showAsAction="never"    -&gt;action bar da değil yandaki overflow menüde göstermek için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tr-TR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android:showAsAction="ifroom"  -&gt;action bar da yer varsa gösterir yoksa overflow menüde gösterir </a:t>
            </a:r>
            <a:endParaRPr dirty="0"/>
          </a:p>
        </p:txBody>
      </p:sp>
      <p:pic>
        <p:nvPicPr>
          <p:cNvPr id="460" name="Google Shape;460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011" y="702650"/>
            <a:ext cx="7792394" cy="601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012" y="1454407"/>
            <a:ext cx="4124911" cy="239926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5"/>
          <p:cNvSpPr txBox="1"/>
          <p:nvPr/>
        </p:nvSpPr>
        <p:spPr>
          <a:xfrm>
            <a:off x="363962" y="122661"/>
            <a:ext cx="8789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Option Menu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5"/>
          <p:cNvSpPr txBox="1"/>
          <p:nvPr/>
        </p:nvSpPr>
        <p:spPr>
          <a:xfrm>
            <a:off x="4180695" y="1376165"/>
            <a:ext cx="80570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Resource Type-&gt;Menu olacak. File name kısmına «menum» diyip menum.xml dosyası oluşturucaz.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4" name="Google Shape;464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24514" y="1749108"/>
            <a:ext cx="4263683" cy="1152081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5"/>
          <p:cNvSpPr txBox="1"/>
          <p:nvPr/>
        </p:nvSpPr>
        <p:spPr>
          <a:xfrm>
            <a:off x="6468197" y="2914727"/>
            <a:ext cx="359585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Şeklinde her bir item ın parametresi oluyor.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D704BD-E78D-44F1-99F5-4F65180070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6" y="3894965"/>
            <a:ext cx="5592498" cy="292609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514409" y="910106"/>
            <a:ext cx="10515600" cy="371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tr-TR" sz="2000" dirty="0"/>
              <a:t> AndroidManifest.xml dosyasına uygulamanın internet izni için aşağıdaki kod eklenir.</a:t>
            </a:r>
            <a:endParaRPr sz="20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000" dirty="0"/>
          </a:p>
        </p:txBody>
      </p:sp>
      <p:sp>
        <p:nvSpPr>
          <p:cNvPr id="92" name="Google Shape;92;p2"/>
          <p:cNvSpPr/>
          <p:nvPr/>
        </p:nvSpPr>
        <p:spPr>
          <a:xfrm>
            <a:off x="0" y="-18068"/>
            <a:ext cx="184731" cy="493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2142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Resim 2" descr="metin, ekran görüntüsü, yazı tipi, çizgi içeren bir resim&#10;&#10;Açıklama otomatik olarak oluşturuldu">
            <a:extLst>
              <a:ext uri="{FF2B5EF4-FFF2-40B4-BE49-F238E27FC236}">
                <a16:creationId xmlns:a16="http://schemas.microsoft.com/office/drawing/2014/main" id="{B5BF9EDB-CAA8-47FF-A998-825CFBA5F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45" y="1357366"/>
            <a:ext cx="7353375" cy="1569822"/>
          </a:xfrm>
          <a:prstGeom prst="rect">
            <a:avLst/>
          </a:prstGeom>
        </p:spPr>
      </p:pic>
      <p:sp>
        <p:nvSpPr>
          <p:cNvPr id="8" name="Google Shape;462;p45">
            <a:extLst>
              <a:ext uri="{FF2B5EF4-FFF2-40B4-BE49-F238E27FC236}">
                <a16:creationId xmlns:a16="http://schemas.microsoft.com/office/drawing/2014/main" id="{37A03160-7F8C-4E77-98ED-088BD5A424B7}"/>
              </a:ext>
            </a:extLst>
          </p:cNvPr>
          <p:cNvSpPr txBox="1"/>
          <p:nvPr/>
        </p:nvSpPr>
        <p:spPr>
          <a:xfrm>
            <a:off x="363962" y="122661"/>
            <a:ext cx="8789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tr-TR" sz="3200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WebView Nesnesi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C58E3F-AAF1-4078-8527-9FA49FFF4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258" y="1708727"/>
            <a:ext cx="2346484" cy="48043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B76E417-BEA5-499B-A607-EF110573E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715" y="2912483"/>
            <a:ext cx="6488052" cy="39191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792</Words>
  <Application>Microsoft Office PowerPoint</Application>
  <PresentationFormat>Widescreen</PresentationFormat>
  <Paragraphs>142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Roboto</vt:lpstr>
      <vt:lpstr>Calibri</vt:lpstr>
      <vt:lpstr>Nunito Sans</vt:lpstr>
      <vt:lpstr>Open Sans</vt:lpstr>
      <vt:lpstr>Office Teması</vt:lpstr>
      <vt:lpstr>Mobil Programlama  Android Studio - Java </vt:lpstr>
      <vt:lpstr>PowerPoint Presentation</vt:lpstr>
      <vt:lpstr>PowerPoint Presentation</vt:lpstr>
      <vt:lpstr>Yeni proje açıldığında yapılacaklar</vt:lpstr>
      <vt:lpstr>Örnek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 Programlama  Android Studio - Java </dc:title>
  <dc:creator>pc</dc:creator>
  <cp:lastModifiedBy>Administrator</cp:lastModifiedBy>
  <cp:revision>21</cp:revision>
  <dcterms:created xsi:type="dcterms:W3CDTF">2022-12-09T08:20:57Z</dcterms:created>
  <dcterms:modified xsi:type="dcterms:W3CDTF">2025-05-16T13:27:05Z</dcterms:modified>
</cp:coreProperties>
</file>